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86" r:id="rId4"/>
    <p:sldId id="257" r:id="rId5"/>
    <p:sldId id="258" r:id="rId6"/>
    <p:sldId id="259" r:id="rId7"/>
    <p:sldId id="261" r:id="rId8"/>
    <p:sldId id="260" r:id="rId9"/>
    <p:sldId id="262" r:id="rId10"/>
    <p:sldId id="263" r:id="rId11"/>
    <p:sldId id="266" r:id="rId12"/>
    <p:sldId id="264" r:id="rId13"/>
    <p:sldId id="267" r:id="rId14"/>
    <p:sldId id="265" r:id="rId15"/>
    <p:sldId id="269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68" r:id="rId29"/>
    <p:sldId id="270" r:id="rId30"/>
    <p:sldId id="27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tags" Target="../tags/tag62.xml"/><Relationship Id="rId17" Type="http://schemas.openxmlformats.org/officeDocument/2006/relationships/tags" Target="../tags/tag61.xml"/><Relationship Id="rId16" Type="http://schemas.openxmlformats.org/officeDocument/2006/relationships/tags" Target="../tags/tag60.xml"/><Relationship Id="rId15" Type="http://schemas.openxmlformats.org/officeDocument/2006/relationships/tags" Target="../tags/tag59.xml"/><Relationship Id="rId14" Type="http://schemas.openxmlformats.org/officeDocument/2006/relationships/tags" Target="../tags/tag58.xml"/><Relationship Id="rId13" Type="http://schemas.openxmlformats.org/officeDocument/2006/relationships/tags" Target="../tags/tag57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3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4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5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6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7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8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69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" Type="http://schemas.openxmlformats.org/officeDocument/2006/relationships/tags" Target="../tags/tag70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8.xml"/><Relationship Id="rId2" Type="http://schemas.openxmlformats.org/officeDocument/2006/relationships/tags" Target="../tags/tag77.xml"/><Relationship Id="rId1" Type="http://schemas.openxmlformats.org/officeDocument/2006/relationships/tags" Target="../tags/tag76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tags" Target="../tags/tag79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4.xml"/><Relationship Id="rId2" Type="http://schemas.openxmlformats.org/officeDocument/2006/relationships/tags" Target="../tags/tag83.xml"/><Relationship Id="rId1" Type="http://schemas.openxmlformats.org/officeDocument/2006/relationships/tags" Target="../tags/tag82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7.xml"/><Relationship Id="rId2" Type="http://schemas.openxmlformats.org/officeDocument/2006/relationships/tags" Target="../tags/tag86.xml"/><Relationship Id="rId1" Type="http://schemas.openxmlformats.org/officeDocument/2006/relationships/tags" Target="../tags/tag85.xml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90.xml"/><Relationship Id="rId3" Type="http://schemas.openxmlformats.org/officeDocument/2006/relationships/image" Target="../media/image2.png"/><Relationship Id="rId2" Type="http://schemas.openxmlformats.org/officeDocument/2006/relationships/tags" Target="../tags/tag89.xml"/><Relationship Id="rId1" Type="http://schemas.openxmlformats.org/officeDocument/2006/relationships/tags" Target="../tags/tag88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3.xml"/><Relationship Id="rId2" Type="http://schemas.openxmlformats.org/officeDocument/2006/relationships/tags" Target="../tags/tag92.xml"/><Relationship Id="rId1" Type="http://schemas.openxmlformats.org/officeDocument/2006/relationships/tags" Target="../tags/tag91.xml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96.xml"/><Relationship Id="rId3" Type="http://schemas.openxmlformats.org/officeDocument/2006/relationships/image" Target="../media/image3.png"/><Relationship Id="rId2" Type="http://schemas.openxmlformats.org/officeDocument/2006/relationships/tags" Target="../tags/tag95.xml"/><Relationship Id="rId1" Type="http://schemas.openxmlformats.org/officeDocument/2006/relationships/tags" Target="../tags/tag94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9.xml"/><Relationship Id="rId2" Type="http://schemas.openxmlformats.org/officeDocument/2006/relationships/tags" Target="../tags/tag98.xml"/><Relationship Id="rId1" Type="http://schemas.openxmlformats.org/officeDocument/2006/relationships/tags" Target="../tags/tag97.xml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02.xml"/><Relationship Id="rId3" Type="http://schemas.openxmlformats.org/officeDocument/2006/relationships/image" Target="../media/image4.png"/><Relationship Id="rId2" Type="http://schemas.openxmlformats.org/officeDocument/2006/relationships/tags" Target="../tags/tag101.xml"/><Relationship Id="rId1" Type="http://schemas.openxmlformats.org/officeDocument/2006/relationships/tags" Target="../tags/tag100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05.xml"/><Relationship Id="rId2" Type="http://schemas.openxmlformats.org/officeDocument/2006/relationships/tags" Target="../tags/tag104.xml"/><Relationship Id="rId1" Type="http://schemas.openxmlformats.org/officeDocument/2006/relationships/tags" Target="../tags/tag103.xml"/></Relationships>
</file>

<file path=ppt/slides/_rels/slide1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109.xml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tags" Target="../tags/tag108.xml"/><Relationship Id="rId2" Type="http://schemas.openxmlformats.org/officeDocument/2006/relationships/tags" Target="../tags/tag107.xml"/><Relationship Id="rId1" Type="http://schemas.openxmlformats.org/officeDocument/2006/relationships/tags" Target="../tags/tag106.xml"/></Relationships>
</file>

<file path=ppt/slides/_rels/slide1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113.xml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tags" Target="../tags/tag112.xml"/><Relationship Id="rId2" Type="http://schemas.openxmlformats.org/officeDocument/2006/relationships/tags" Target="../tags/tag111.xml"/><Relationship Id="rId1" Type="http://schemas.openxmlformats.org/officeDocument/2006/relationships/tags" Target="../tags/tag110.xml"/></Relationships>
</file>

<file path=ppt/slides/_rels/slide17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11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tags" Target="../tags/tag116.xml"/><Relationship Id="rId2" Type="http://schemas.openxmlformats.org/officeDocument/2006/relationships/tags" Target="../tags/tag115.xml"/><Relationship Id="rId1" Type="http://schemas.openxmlformats.org/officeDocument/2006/relationships/tags" Target="../tags/tag114.xml"/></Relationships>
</file>

<file path=ppt/slides/_rels/slide18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12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3" Type="http://schemas.openxmlformats.org/officeDocument/2006/relationships/tags" Target="../tags/tag120.xml"/><Relationship Id="rId2" Type="http://schemas.openxmlformats.org/officeDocument/2006/relationships/tags" Target="../tags/tag119.xml"/><Relationship Id="rId1" Type="http://schemas.openxmlformats.org/officeDocument/2006/relationships/tags" Target="../tags/tag118.xml"/></Relationships>
</file>

<file path=ppt/slides/_rels/slide19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125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tags" Target="../tags/tag124.xml"/><Relationship Id="rId2" Type="http://schemas.openxmlformats.org/officeDocument/2006/relationships/tags" Target="../tags/tag123.xml"/><Relationship Id="rId1" Type="http://schemas.openxmlformats.org/officeDocument/2006/relationships/tags" Target="../tags/tag122.xml"/></Relationships>
</file>

<file path=ppt/slides/_rels/slide20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129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3" Type="http://schemas.openxmlformats.org/officeDocument/2006/relationships/tags" Target="../tags/tag128.xml"/><Relationship Id="rId2" Type="http://schemas.openxmlformats.org/officeDocument/2006/relationships/tags" Target="../tags/tag127.xml"/><Relationship Id="rId1" Type="http://schemas.openxmlformats.org/officeDocument/2006/relationships/tags" Target="../tags/tag126.xml"/></Relationships>
</file>

<file path=ppt/slides/_rels/slide21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13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3" Type="http://schemas.openxmlformats.org/officeDocument/2006/relationships/tags" Target="../tags/tag132.xml"/><Relationship Id="rId2" Type="http://schemas.openxmlformats.org/officeDocument/2006/relationships/tags" Target="../tags/tag131.xml"/><Relationship Id="rId1" Type="http://schemas.openxmlformats.org/officeDocument/2006/relationships/tags" Target="../tags/tag130.xml"/></Relationships>
</file>

<file path=ppt/slides/_rels/slide2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13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3" Type="http://schemas.openxmlformats.org/officeDocument/2006/relationships/tags" Target="../tags/tag136.xml"/><Relationship Id="rId2" Type="http://schemas.openxmlformats.org/officeDocument/2006/relationships/tags" Target="../tags/tag135.xml"/><Relationship Id="rId1" Type="http://schemas.openxmlformats.org/officeDocument/2006/relationships/tags" Target="../tags/tag134.xml"/></Relationships>
</file>

<file path=ppt/slides/_rels/slide23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14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tags" Target="../tags/tag140.xml"/><Relationship Id="rId2" Type="http://schemas.openxmlformats.org/officeDocument/2006/relationships/tags" Target="../tags/tag139.xml"/><Relationship Id="rId1" Type="http://schemas.openxmlformats.org/officeDocument/2006/relationships/tags" Target="../tags/tag138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145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3" Type="http://schemas.openxmlformats.org/officeDocument/2006/relationships/tags" Target="../tags/tag144.xml"/><Relationship Id="rId2" Type="http://schemas.openxmlformats.org/officeDocument/2006/relationships/tags" Target="../tags/tag143.xml"/><Relationship Id="rId1" Type="http://schemas.openxmlformats.org/officeDocument/2006/relationships/tags" Target="../tags/tag142.xml"/></Relationships>
</file>

<file path=ppt/slides/_rels/slide2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149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3" Type="http://schemas.openxmlformats.org/officeDocument/2006/relationships/tags" Target="../tags/tag148.xml"/><Relationship Id="rId2" Type="http://schemas.openxmlformats.org/officeDocument/2006/relationships/tags" Target="../tags/tag147.xml"/><Relationship Id="rId1" Type="http://schemas.openxmlformats.org/officeDocument/2006/relationships/tags" Target="../tags/tag146.xml"/></Relationships>
</file>

<file path=ppt/slides/_rels/slide2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153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3" Type="http://schemas.openxmlformats.org/officeDocument/2006/relationships/tags" Target="../tags/tag152.xml"/><Relationship Id="rId2" Type="http://schemas.openxmlformats.org/officeDocument/2006/relationships/tags" Target="../tags/tag151.xml"/><Relationship Id="rId1" Type="http://schemas.openxmlformats.org/officeDocument/2006/relationships/tags" Target="../tags/tag150.xml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56.xml"/><Relationship Id="rId2" Type="http://schemas.openxmlformats.org/officeDocument/2006/relationships/tags" Target="../tags/tag155.xml"/><Relationship Id="rId1" Type="http://schemas.openxmlformats.org/officeDocument/2006/relationships/tags" Target="../tags/tag154.xml"/></Relationships>
</file>

<file path=ppt/slides/_rels/slide2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59.xml"/><Relationship Id="rId2" Type="http://schemas.openxmlformats.org/officeDocument/2006/relationships/tags" Target="../tags/tag158.xml"/><Relationship Id="rId1" Type="http://schemas.openxmlformats.org/officeDocument/2006/relationships/tags" Target="../tags/tag15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1.xml"/><Relationship Id="rId1" Type="http://schemas.openxmlformats.org/officeDocument/2006/relationships/tags" Target="../tags/tag1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662305" y="1383665"/>
            <a:ext cx="11141075" cy="2437130"/>
          </a:xfrm>
        </p:spPr>
        <p:txBody>
          <a:bodyPr>
            <a:normAutofit/>
          </a:bodyPr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Indian Banking Transaction &amp; Fraud Analytics Dashboard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6851650" y="4742815"/>
            <a:ext cx="5237480" cy="1699260"/>
          </a:xfrm>
        </p:spPr>
        <p:txBody>
          <a:bodyPr>
            <a:normAutofit/>
          </a:bodyPr>
          <a:p>
            <a:pPr algn="l"/>
            <a:r>
              <a:rPr lang="en-US" sz="222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Name : Monika Balasubramani</a:t>
            </a:r>
            <a:endParaRPr lang="en-US" sz="222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l"/>
            <a:r>
              <a:rPr lang="en-US" sz="222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Batch Code : ANP-D6580</a:t>
            </a:r>
            <a:endParaRPr lang="en-US" sz="222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l"/>
            <a:r>
              <a:rPr lang="en-US" sz="222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AF ID : AF05304591</a:t>
            </a:r>
            <a:endParaRPr lang="en-US" sz="222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 sz="32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Overview</a:t>
            </a:r>
            <a:endParaRPr lang="en-US" altLang="en-US" sz="32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5487670" cy="4758690"/>
          </a:xfrm>
        </p:spPr>
        <p:txBody>
          <a:bodyPr/>
          <a:p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Introduction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Problem Statement &amp; Objectives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Target Viewers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Dataset Details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Data Cleaning &amp; Preprocessing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Tools &amp; Technologies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Dashboard Page 1: Transaction Overview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endParaRPr lang="en-US" altLang="en-US" sz="7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 sz="7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 sz="7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 sz="7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 sz="7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 sz="7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 sz="7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 sz="7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Content Placeholder 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5796280" y="1490345"/>
            <a:ext cx="5487670" cy="475932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Dashboard Page 2:Customer &amp; Banking Behavior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Dashboard Page 3: Fraud &amp; Risk Analytics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Key Dashboard Visualizations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Overall Key Findings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Conclusion &amp; Future Scope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/>
          </a:p>
        </p:txBody>
      </p:sp>
    </p:spTree>
    <p:custDataLst>
      <p:tags r:id="rId4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Introduction</a:t>
            </a:r>
            <a:endParaRPr lang="en-US" alt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/>
          </a:bodyPr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Banking generates a huge volume of transaction data.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Manual analysis of transaction data is time-consuming.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Fraudulent transactions need to be identified and monitored.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Power BI can transform raw banking data into interactive visual insights.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This project focuses on transaction performance and fraud analysis.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Different factors such as transaction type, bank, device, network and time can influence transaction patterns.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Analyzing these factors helps in understanding successful, failed and suspicious transactions.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Problem Statement &amp; Objectives</a:t>
            </a:r>
            <a:endParaRPr lang="en-US" alt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en-US" b="1">
                <a:solidFill>
                  <a:schemeClr val="bg1"/>
                </a:solidFill>
              </a:rPr>
              <a:t>Problem Statement</a:t>
            </a:r>
            <a:endParaRPr lang="en-US" altLang="en-US" b="1">
              <a:solidFill>
                <a:schemeClr val="bg1"/>
              </a:solidFill>
            </a:endParaRPr>
          </a:p>
          <a:p>
            <a:pPr lvl="1" algn="l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 To develop an interactive Power BI dashboard that analyzes Indian banking transactions, identifies transaction patterns, and provides insights into fraudulent activities and associated risks.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457200" lvl="1" indent="0" algn="l">
              <a:buNone/>
            </a:pPr>
            <a:endParaRPr lang="en-US" altLang="en-US" sz="18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l">
              <a:buNone/>
            </a:pPr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Objectives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buFont typeface="Arial" panose="020B0604020202020204" pitchFamily="34" charset="0"/>
              <a:buChar char="•"/>
            </a:pPr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Analyze transaction volume and value.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buFont typeface="Arial" panose="020B0604020202020204" pitchFamily="34" charset="0"/>
              <a:buChar char="•"/>
            </a:pPr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Study transaction status and channels.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buFont typeface="Arial" panose="020B0604020202020204" pitchFamily="34" charset="0"/>
              <a:buChar char="•"/>
            </a:pPr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Analyze banks, merchants and transaction patterns.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buFont typeface="Arial" panose="020B0604020202020204" pitchFamily="34" charset="0"/>
              <a:buChar char="•"/>
            </a:pPr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Identify fraudulent transactions.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buFont typeface="Arial" panose="020B0604020202020204" pitchFamily="34" charset="0"/>
              <a:buChar char="•"/>
            </a:pPr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Present insights through interactive dashboards.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Target Viewers</a:t>
            </a:r>
            <a:endParaRPr lang="en-US" alt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10686415" cy="4759325"/>
          </a:xfrm>
        </p:spPr>
        <p:txBody>
          <a:bodyPr>
            <a:normAutofit fontScale="90000" lnSpcReduction="10000"/>
          </a:bodyPr>
          <a:p>
            <a:pPr marL="0" indent="0">
              <a:buNone/>
            </a:pPr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Banking &amp; Financial Institutions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 Monitor transaction activity.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Analyze transaction performance.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lvl="0" indent="0">
              <a:buNone/>
            </a:pPr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Fraud &amp; Risk Teams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Analyze fraud patterns based on available transaction attributes.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Identify areas requiring further investigation.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lvl="0" indent="0">
              <a:buNone/>
            </a:pPr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Data Analysts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Explore transaction trends and patterns.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Generate data-driven insights.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lvl="0" indent="0">
              <a:buNone/>
            </a:pPr>
            <a:r>
              <a:rPr lang="en-US" altLang="en-US" sz="2025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Bank Management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Get a summarized view of transaction performance.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Support data-based monitoring and decision-making.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lvl="0" indent="0">
              <a:buNone/>
            </a:pP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Dataset Details</a:t>
            </a:r>
            <a:endParaRPr lang="en-US" alt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lnSpcReduction="20000"/>
          </a:bodyPr>
          <a:p>
            <a:pPr marL="0" indent="0">
              <a:buNone/>
            </a:pPr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Dataset Name</a:t>
            </a:r>
            <a:endParaRPr lang="en-US" altLang="en-US" b="1"/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Indian Banking Transactions</a:t>
            </a:r>
            <a:endParaRPr lang="en-US" altLang="en-US" b="1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Dataset Overview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Total Records: 5,50,000 transactions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Data Type: Structured transactional data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Domain: Banking &amp; Digital Transactions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Source: Kaggle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Format: Tabular dataset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Purpose: To analyze transaction behavior, banking activity and fraudulent transactions.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Data Cleaning &amp; Preprocessing</a:t>
            </a:r>
            <a:endParaRPr lang="en-US" alt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Checked the dataset for missing values.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Removed or handled duplicate records.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Corrected data types for numerical, text and date/time columns.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Standardized categorical values such as transaction type, bank and device type.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Checked transaction amounts for invalid or inconsistent values.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Extracted useful time information such as hour, day and weekend status.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Verified the Fraud Flag values for fraud analysis.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Renamed columns where necessary for easier understanding.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Loaded the cleaned dataset into Power BI for visualization.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Tools &amp; Technologies</a:t>
            </a:r>
            <a:endParaRPr lang="en-US" alt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Power BI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Used to create the interactive three-page dashboard.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Used charts, cards, slicers and other visualizations.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Used to analyze transaction and fraud-related patterns.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Helped present the results in an easy-to-understand visual format.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Power Query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Used for data cleaning and preprocessing.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Handled missing and duplicate data.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Corrected data types and standardized values.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Prepared the dataset before loading it into Power BI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.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Dashboard Page 1: Transaction Overview</a:t>
            </a:r>
            <a:endParaRPr lang="en-US" alt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5" name="Content Placeholder 4" descr="Screenshot 2026-09-30 235409"/>
          <p:cNvPicPr>
            <a:picLocks noChangeAspect="1"/>
          </p:cNvPicPr>
          <p:nvPr>
            <p:ph idx="1"/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1968500" y="1650365"/>
            <a:ext cx="8412480" cy="471830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35" y="386715"/>
            <a:ext cx="12072620" cy="722630"/>
          </a:xfrm>
        </p:spPr>
        <p:txBody>
          <a:bodyPr>
            <a:noAutofit/>
          </a:bodyPr>
          <a:p>
            <a:pPr algn="ctr"/>
            <a:r>
              <a:rPr lang="en-US" altLang="en-US" sz="3200" b="1">
                <a:solidFill>
                  <a:schemeClr val="bg1"/>
                </a:solidFill>
              </a:rPr>
              <a:t>Dashboard – </a:t>
            </a:r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Page </a:t>
            </a:r>
            <a:r>
              <a:rPr lang="en-US" altLang="en-US" sz="3200" b="1">
                <a:solidFill>
                  <a:schemeClr val="bg1"/>
                </a:solidFill>
              </a:rPr>
              <a:t>1: Transaction Overview</a:t>
            </a:r>
            <a:endParaRPr lang="en-US" altLang="en-US" sz="3200" b="1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250950"/>
            <a:ext cx="10968990" cy="5607050"/>
          </a:xfrm>
        </p:spPr>
        <p:txBody>
          <a:bodyPr>
            <a:normAutofit fontScale="40000"/>
          </a:bodyPr>
          <a:p>
            <a:pPr marL="0" indent="0">
              <a:buNone/>
            </a:pPr>
            <a:r>
              <a:rPr lang="en-US" altLang="en-US" sz="50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Purpose:</a:t>
            </a:r>
            <a:endParaRPr lang="en-US" altLang="en-US" sz="50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5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Provides an overall view of banking transaction activity and allows users to filter and analyze transactions interactively.</a:t>
            </a:r>
            <a:endParaRPr lang="en-US" altLang="en-US" sz="5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US" sz="45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Key Features:</a:t>
            </a:r>
            <a:endParaRPr lang="en-US" altLang="en-US" sz="4500" b="1"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4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KPI Cards: Displays Total Transaction Value, Total Transactions, Success Rate and Failure Rate.</a:t>
            </a:r>
            <a:endParaRPr lang="en-US" altLang="en-US" sz="4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4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Year &amp; State Analysis: Shows transaction trends over time and transaction volume across states.</a:t>
            </a:r>
            <a:endParaRPr lang="en-US" altLang="en-US" sz="4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4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Merchant Category: Compares transaction value across different merchant categories.</a:t>
            </a:r>
            <a:endParaRPr lang="en-US" altLang="en-US" sz="4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4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Transaction Status: Analyzes successful, failed, reversed and pending transactions.</a:t>
            </a:r>
            <a:endParaRPr lang="en-US" altLang="en-US" sz="4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4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Transaction Direction: Shows the distribution of Debit and Credit transactions.</a:t>
            </a:r>
            <a:endParaRPr lang="en-US" altLang="en-US" sz="4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4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Channel Analysis: Compares transactions across channels such as Mobile App, ATM, POS Terminal, Banking and UPI.</a:t>
            </a:r>
            <a:endParaRPr lang="en-US" altLang="en-US" sz="4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4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Transaction &amp; Account Type: Provides insights into transaction types and customer account types.</a:t>
            </a:r>
            <a:endParaRPr lang="en-US" altLang="en-US" sz="4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4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Interactive Filters: Year, State, Channel, Category, Account Type and Direction can be used to filter the dashboard.</a:t>
            </a:r>
            <a:endParaRPr lang="en-US" altLang="en-US" sz="4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35" y="608330"/>
            <a:ext cx="12190730" cy="705485"/>
          </a:xfrm>
        </p:spPr>
        <p:txBody>
          <a:bodyPr>
            <a:normAutofit/>
          </a:bodyPr>
          <a:p>
            <a:pPr algn="ctr"/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Dashboard Page 2:</a:t>
            </a:r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Customer &amp; Banking Behavior</a:t>
            </a:r>
            <a:endParaRPr lang="en-US" alt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" name="Content Placeholder 3" descr="Screenshot 2026-09-30 235544"/>
          <p:cNvPicPr>
            <a:picLocks noChangeAspect="1"/>
          </p:cNvPicPr>
          <p:nvPr>
            <p:ph idx="1"/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1877695" y="1490345"/>
            <a:ext cx="8428990" cy="475932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pPr algn="ctr"/>
            <a:r>
              <a:rPr lang="en-US" altLang="en-US" sz="3555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Dashboard – Page 2: Customer &amp; Banking Behavior</a:t>
            </a:r>
            <a:endParaRPr lang="en-US" altLang="en-US" sz="3555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fontScale="80000"/>
          </a:bodyPr>
          <a:p>
            <a:pPr marL="0" indent="0">
              <a:buNone/>
            </a:pPr>
            <a:r>
              <a:rPr lang="en-US" altLang="en-US" sz="225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Key Features</a:t>
            </a:r>
            <a:endParaRPr lang="en-US" altLang="en-US" sz="225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KPI Cards: Shows Total Customers, KYC Completion Rate, Average Transaction Amount and Loan Customer Percentage.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Merchant Category Analysis: Compares the average transaction amount across different merchant categories.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Account Type Analysis: Shows the total transaction amount by different account types.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Loan Analysis: Compares EMI amounts across different loan types.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Hourly Analysis: Displays transaction amount and transaction count across different hours of the day.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KYC Status Analysis: Shows the distribution of customers and transactions based on Verified, Pending and Expired KYC status.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Loan Customer Analysis: Shows the distribution of customers based on whether they have a loan.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Interactive Filters: Allows users to filter the dashboard by Category, Loan Type and KYC Status.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Dashboard Page 3: Fraud &amp; Risk Analytics</a:t>
            </a:r>
            <a:endParaRPr lang="en-US" alt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pic>
        <p:nvPicPr>
          <p:cNvPr id="5" name="Content Placeholder 4" descr="Screenshot 2026-09-30 235708"/>
          <p:cNvPicPr>
            <a:picLocks noChangeAspect="1"/>
          </p:cNvPicPr>
          <p:nvPr>
            <p:ph idx="1"/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1855470" y="1490345"/>
            <a:ext cx="8474075" cy="475932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pPr algn="ctr"/>
            <a:r>
              <a:rPr lang="en-US" altLang="en-US" sz="3555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Dashboard – Page 3: Fraud &amp; Risk Analytics Overview</a:t>
            </a:r>
            <a:endParaRPr lang="en-US" altLang="en-US" sz="3555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en-US" sz="20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Key Features</a:t>
            </a:r>
            <a:endParaRPr lang="en-US" altLang="en-US" sz="20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Fraud Rate: Displays the percentage of transactions identified as fraudulent.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Fraudulent Transactions: Shows the total number of transactions flagged as fraud.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Average Fraudulent Transaction: Provides the average transaction amount associated with fraudulent transactions.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Fraud &amp; Risk KPI: Provides an additional indicator to understand the level of transaction risk.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Fraud Pattern Analysis: Helps analyze fraudulent activity across available transaction attributes.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Bank &amp; Transaction Analysis: Allows comparison of fraud-related activity across banking and transaction categories.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Interactive Filters: Enables users to explore fraud patterns based on relevant categories such as bank, device, network or transaction characteristics</a:t>
            </a:r>
            <a:r>
              <a:rPr lang="en-US" altLang="en-US"/>
              <a:t>.</a:t>
            </a:r>
            <a:endParaRPr lang="en-US" altLang="en-US"/>
          </a:p>
        </p:txBody>
      </p:sp>
    </p:spTree>
    <p:custDataLst>
      <p:tags r:id="rId3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Key Dashboard Visualizations</a:t>
            </a:r>
            <a:endParaRPr lang="en-US" alt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447040" y="1490345"/>
            <a:ext cx="5487670" cy="4759325"/>
          </a:xfrm>
        </p:spPr>
        <p:txBody>
          <a:bodyPr/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Total Transactions by Year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Content Placeholder 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362700" y="1490345"/>
            <a:ext cx="5487670" cy="475932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Total Transactions by State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7" name="Picture 6" descr="Screenshot 2026-09-30 22130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80" y="2809875"/>
            <a:ext cx="4491990" cy="2734310"/>
          </a:xfrm>
          <a:prstGeom prst="rect">
            <a:avLst/>
          </a:prstGeom>
        </p:spPr>
      </p:pic>
      <p:pic>
        <p:nvPicPr>
          <p:cNvPr id="12" name="Picture 11" descr="Screenshot 2026-09-30 22135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345" y="2809875"/>
            <a:ext cx="4491355" cy="273431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Key Dashboard Visualizations</a:t>
            </a:r>
            <a:endParaRPr lang="en-US" altLang="en-US" sz="32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447040" y="1490345"/>
            <a:ext cx="5487670" cy="4759325"/>
          </a:xfrm>
        </p:spPr>
        <p:txBody>
          <a:bodyPr/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Total Transactions by Status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Content Placeholder 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362700" y="1490345"/>
            <a:ext cx="5487670" cy="475932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Total Transactions by Type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7" name="Picture 6" descr="Screenshot 2026-09-30 2232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6075" y="2689860"/>
            <a:ext cx="4871593" cy="2651760"/>
          </a:xfrm>
          <a:prstGeom prst="rect">
            <a:avLst/>
          </a:prstGeom>
        </p:spPr>
      </p:pic>
      <p:pic>
        <p:nvPicPr>
          <p:cNvPr id="8" name="Picture 7" descr="Screenshot 2026-09-30 22315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935" y="2689860"/>
            <a:ext cx="4881880" cy="265176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Content Placeholder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6362700" y="1490345"/>
            <a:ext cx="5487670" cy="475932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Total Transactions by Merchant Category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447040" y="1490345"/>
            <a:ext cx="5487670" cy="4759325"/>
          </a:xfrm>
        </p:spPr>
        <p:txBody>
          <a:bodyPr/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Total Transactions by </a:t>
            </a: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Transaction Direction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/>
        <p:txBody>
          <a:bodyPr/>
          <a:p>
            <a:pPr algn="ctr"/>
            <a:r>
              <a:rPr lang="en-US" altLang="en-US" sz="32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Key Dashboard Visualizations</a:t>
            </a:r>
            <a:endParaRPr lang="en-US" altLang="en-US" sz="32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7" name="Picture 6" descr="Screenshot 2026-09-30 2237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2080" y="2948940"/>
            <a:ext cx="5146040" cy="2952115"/>
          </a:xfrm>
          <a:prstGeom prst="rect">
            <a:avLst/>
          </a:prstGeom>
        </p:spPr>
      </p:pic>
      <p:pic>
        <p:nvPicPr>
          <p:cNvPr id="8" name="Picture 7" descr="Screenshot 2026-09-30 22383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55" y="2949575"/>
            <a:ext cx="5095240" cy="295148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Key Dashboard Visualizations</a:t>
            </a:r>
            <a:endParaRPr lang="en-US" altLang="en-US" sz="32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447040" y="1490345"/>
            <a:ext cx="5487670" cy="4759325"/>
          </a:xfrm>
        </p:spPr>
        <p:txBody>
          <a:bodyPr/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Total Transactions by Channel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Content Placeholder 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362700" y="1490345"/>
            <a:ext cx="5487670" cy="475932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Total Transactions by Account Type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8" name="Picture 7" descr="Screenshot 2026-09-30 2242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345" y="2858770"/>
            <a:ext cx="5008245" cy="3123565"/>
          </a:xfrm>
          <a:prstGeom prst="rect">
            <a:avLst/>
          </a:prstGeom>
        </p:spPr>
      </p:pic>
      <p:pic>
        <p:nvPicPr>
          <p:cNvPr id="9" name="Picture 8" descr="Screenshot 2026-09-30 224611"/>
          <p:cNvPicPr>
            <a:picLocks noChangeAspect="1"/>
          </p:cNvPicPr>
          <p:nvPr/>
        </p:nvPicPr>
        <p:blipFill>
          <a:blip r:embed="rId5"/>
          <a:srcRect t="3740"/>
          <a:stretch>
            <a:fillRect/>
          </a:stretch>
        </p:blipFill>
        <p:spPr>
          <a:xfrm>
            <a:off x="6569075" y="2858770"/>
            <a:ext cx="5008245" cy="312293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Key Dashboard Visualizations</a:t>
            </a:r>
            <a:endParaRPr lang="en-US" altLang="en-US" sz="32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447040" y="1490345"/>
            <a:ext cx="5487670" cy="4759325"/>
          </a:xfrm>
        </p:spPr>
        <p:txBody>
          <a:bodyPr/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Count Of Transaction ID by Loan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Content Placeholder 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362700" y="1490345"/>
            <a:ext cx="5487670" cy="475932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Count Of Transaction ID by Transaction Hour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ctr">
              <a:buNone/>
            </a:pP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7" name="Picture 6" descr="Screenshot 2026-09-30 225241"/>
          <p:cNvPicPr>
            <a:picLocks noChangeAspect="1"/>
          </p:cNvPicPr>
          <p:nvPr/>
        </p:nvPicPr>
        <p:blipFill>
          <a:blip r:embed="rId4"/>
          <a:srcRect l="2466" t="5458" r="627" b="-1360"/>
          <a:stretch>
            <a:fillRect/>
          </a:stretch>
        </p:blipFill>
        <p:spPr>
          <a:xfrm>
            <a:off x="905510" y="2804795"/>
            <a:ext cx="4873625" cy="3152775"/>
          </a:xfrm>
          <a:prstGeom prst="rect">
            <a:avLst/>
          </a:prstGeom>
        </p:spPr>
      </p:pic>
      <p:pic>
        <p:nvPicPr>
          <p:cNvPr id="8" name="Picture 7" descr="Screenshot 2026-09-30 22540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3060" y="2804795"/>
            <a:ext cx="4874260" cy="315341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Key Dashboard Visualizations</a:t>
            </a:r>
            <a:endParaRPr lang="en-US" altLang="en-US" sz="32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447040" y="1490345"/>
            <a:ext cx="5487670" cy="4759325"/>
          </a:xfrm>
        </p:spPr>
        <p:txBody>
          <a:bodyPr/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Average of Transaction Amount by Merchant Category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Content Placeholder 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362700" y="1490345"/>
            <a:ext cx="5487670" cy="475932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Sum of Transaction Amount by Account Type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ctr">
              <a:buNone/>
            </a:pP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7" name="Picture 6" descr="Screenshot 2026-09-30 22582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330" y="3159125"/>
            <a:ext cx="5086985" cy="2792730"/>
          </a:xfrm>
          <a:prstGeom prst="rect">
            <a:avLst/>
          </a:prstGeom>
        </p:spPr>
      </p:pic>
      <p:pic>
        <p:nvPicPr>
          <p:cNvPr id="8" name="Picture 7" descr="Screenshot 2026-09-30 22595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335" y="3159125"/>
            <a:ext cx="5086985" cy="2793365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Key Dashboard Visualizations</a:t>
            </a:r>
            <a:endParaRPr lang="en-US" altLang="en-US" sz="32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447040" y="1490345"/>
            <a:ext cx="5487670" cy="4759325"/>
          </a:xfrm>
        </p:spPr>
        <p:txBody>
          <a:bodyPr/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Count Of Customer ID  By KYC Status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Content Placeholder 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362700" y="1490345"/>
            <a:ext cx="5487670" cy="475932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Count Of  Transactions ID By KYC Status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8" name="Picture 7" descr="Screenshot 2026-09-30 23025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970" y="2987675"/>
            <a:ext cx="5212080" cy="2758341"/>
          </a:xfrm>
          <a:prstGeom prst="rect">
            <a:avLst/>
          </a:prstGeom>
        </p:spPr>
      </p:pic>
      <p:pic>
        <p:nvPicPr>
          <p:cNvPr id="9" name="Picture 8" descr="Screenshot 2026-09-30 23023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330" y="2988310"/>
            <a:ext cx="5076825" cy="2757805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Key Dashboard Visualizations</a:t>
            </a:r>
            <a:endParaRPr lang="en-US" altLang="en-US" sz="32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447040" y="1490345"/>
            <a:ext cx="5487670" cy="4759325"/>
          </a:xfrm>
        </p:spPr>
        <p:txBody>
          <a:bodyPr/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Sum Of EMI Amount by Loan Type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Content Placeholder 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362700" y="1490345"/>
            <a:ext cx="5487670" cy="475932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Sum Of Transaction Amount by </a:t>
            </a: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Transaction Hour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7" name="Picture 6" descr="Screenshot 2026-09-30 23105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760" y="2973705"/>
            <a:ext cx="4988560" cy="3114675"/>
          </a:xfrm>
          <a:prstGeom prst="rect">
            <a:avLst/>
          </a:prstGeom>
        </p:spPr>
      </p:pic>
      <p:pic>
        <p:nvPicPr>
          <p:cNvPr id="8" name="Picture 7" descr="Screenshot 2026-09-30 2310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330" y="2973705"/>
            <a:ext cx="4988560" cy="312420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Key Dashboard Visualizations</a:t>
            </a:r>
            <a:endParaRPr lang="en-US" altLang="en-US" sz="32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447040" y="1490345"/>
            <a:ext cx="5487670" cy="4759325"/>
          </a:xfrm>
        </p:spPr>
        <p:txBody>
          <a:bodyPr/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Count Of Transaction ID by Channel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Content Placeholder 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362700" y="1490345"/>
            <a:ext cx="5487670" cy="475932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Count Of Transaction ID by Merchant Category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7" name="Picture 6" descr="Screenshot 2026-09-30 23184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330" y="2850515"/>
            <a:ext cx="5201920" cy="2797810"/>
          </a:xfrm>
          <a:prstGeom prst="rect">
            <a:avLst/>
          </a:prstGeom>
        </p:spPr>
      </p:pic>
      <p:pic>
        <p:nvPicPr>
          <p:cNvPr id="9" name="Picture 8" descr="Screenshot 2026-09-30 23190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1575" y="2850515"/>
            <a:ext cx="5201920" cy="279781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Key Dashboard Visualizations</a:t>
            </a:r>
            <a:endParaRPr lang="en-US" altLang="en-US" sz="32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447040" y="1490345"/>
            <a:ext cx="5487670" cy="4759325"/>
          </a:xfrm>
        </p:spPr>
        <p:txBody>
          <a:bodyPr/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Count Of Transaction ID by </a:t>
            </a: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Transaction Type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Content Placeholder 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362700" y="1490345"/>
            <a:ext cx="5487670" cy="475932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Count Of Transaction ID And  Sum Of Fraud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ctr">
              <a:buNone/>
            </a:pP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7" name="Picture 6" descr="Screenshot 2026-09-30 23224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190" y="3121025"/>
            <a:ext cx="5303520" cy="2582299"/>
          </a:xfrm>
          <a:prstGeom prst="rect">
            <a:avLst/>
          </a:prstGeom>
        </p:spPr>
      </p:pic>
      <p:pic>
        <p:nvPicPr>
          <p:cNvPr id="8" name="Picture 7" descr="Screenshot 2026-09-30 23233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0675" y="3120390"/>
            <a:ext cx="4797425" cy="258318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Key Dashboard Visualizations</a:t>
            </a:r>
            <a:endParaRPr lang="en-US" altLang="en-US" sz="32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447040" y="1490345"/>
            <a:ext cx="5487670" cy="4759325"/>
          </a:xfrm>
        </p:spPr>
        <p:txBody>
          <a:bodyPr/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Count Of Transaction ID by State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ctr">
              <a:buNone/>
            </a:pP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Content Placeholder 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362700" y="1490345"/>
            <a:ext cx="5487670" cy="475932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Count Of Transaction Time by </a:t>
            </a: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Transaction Hour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ctr">
              <a:buNone/>
            </a:pP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9" name="Picture 8" descr="Screenshot 2026-09-30 233101"/>
          <p:cNvPicPr>
            <a:picLocks noChangeAspect="1"/>
          </p:cNvPicPr>
          <p:nvPr/>
        </p:nvPicPr>
        <p:blipFill>
          <a:blip r:embed="rId4"/>
          <a:srcRect t="3442"/>
          <a:stretch>
            <a:fillRect/>
          </a:stretch>
        </p:blipFill>
        <p:spPr>
          <a:xfrm>
            <a:off x="539750" y="3129280"/>
            <a:ext cx="5394960" cy="2600960"/>
          </a:xfrm>
          <a:prstGeom prst="rect">
            <a:avLst/>
          </a:prstGeom>
        </p:spPr>
      </p:pic>
      <p:pic>
        <p:nvPicPr>
          <p:cNvPr id="10" name="Picture 9" descr="Screenshot 2026-09-30 23314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160" y="3074670"/>
            <a:ext cx="5065395" cy="265557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Key Dashboard Visualizations</a:t>
            </a:r>
            <a:endParaRPr lang="en-US" altLang="en-US" sz="32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447040" y="1490345"/>
            <a:ext cx="5487670" cy="4759325"/>
          </a:xfrm>
        </p:spPr>
        <p:txBody>
          <a:bodyPr/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Count Of Transaction ID by Transaction Direcction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ctr">
              <a:buNone/>
            </a:pP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Content Placeholder 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362700" y="1490345"/>
            <a:ext cx="5487670" cy="475932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en-US" sz="2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Sum Of Credit Score And Sum Of Transaction Account by Transaction ID And Fraud</a:t>
            </a:r>
            <a:endParaRPr lang="en-US" altLang="en-US" sz="2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8" name="Picture 7" descr="Screenshot 2026-09-30 23341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040" y="3429635"/>
            <a:ext cx="5303520" cy="2524752"/>
          </a:xfrm>
          <a:prstGeom prst="rect">
            <a:avLst/>
          </a:prstGeom>
        </p:spPr>
      </p:pic>
      <p:pic>
        <p:nvPicPr>
          <p:cNvPr id="9" name="Picture 8" descr="Screenshot 2026-09-30 233454"/>
          <p:cNvPicPr>
            <a:picLocks noChangeAspect="1"/>
          </p:cNvPicPr>
          <p:nvPr/>
        </p:nvPicPr>
        <p:blipFill>
          <a:blip r:embed="rId5"/>
          <a:srcRect t="2727"/>
          <a:stretch>
            <a:fillRect/>
          </a:stretch>
        </p:blipFill>
        <p:spPr>
          <a:xfrm>
            <a:off x="6362065" y="3429000"/>
            <a:ext cx="5488305" cy="2525395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Overall Key Findings</a:t>
            </a:r>
            <a:endParaRPr lang="en-US" alt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fontScale="90000" lnSpcReduction="10000"/>
          </a:bodyPr>
          <a:p>
            <a:pPr marL="0" indent="0">
              <a:buNone/>
            </a:pPr>
            <a:r>
              <a:rPr lang="en-US" altLang="en-US" sz="2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Key Findings</a:t>
            </a:r>
            <a:endParaRPr lang="en-US" altLang="en-US" sz="2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The dashboard provides an overall view of 5.5 lakh banking transactions and their transaction values.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Transaction activity can be analyzed based on state, channel, merchant category and transaction type.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The dashboard shows differences in transaction behavior across account types and customer categories.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Customer and banking behavior can be studied using transaction amount, loan type and KYC status.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Hour-wise analysis helps identify patterns in transaction amount and transaction volume.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Fraud-related analysis helps identify fraudulent transactions and potential risk patterns.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Interactive filters allow users to explore the data based on different categories and conditions</a:t>
            </a:r>
            <a:r>
              <a:rPr lang="en-US" altLang="en-US"/>
              <a:t>.</a:t>
            </a:r>
            <a:endParaRPr lang="en-US" altLang="en-US"/>
          </a:p>
        </p:txBody>
      </p:sp>
    </p:spTree>
    <p:custDataLst>
      <p:tags r:id="rId3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Conclusion &amp; Future Scope</a:t>
            </a:r>
            <a:endParaRPr lang="en-US" alt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Conclusion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The project successfully transforms raw banking transaction data into an interactive Power BI dashboard.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Power Query was used to clean and prepare the dataset before analysis.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The three dashboard pages provide insights into transaction activity, customer behavior and fraud-related patterns.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Interactive visuals and filters make it easier to explore and understand banking data.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The dashboard can support data-driven monitoring and analysis of banking transactions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lvl="0" indent="0">
              <a:buNone/>
            </a:pPr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Future Scope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Integration with real-time banking transaction data.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Implementation of machine learning models for fraud prediction.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Development of real-time fraud alerts for suspicious transactions.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330" y="2285365"/>
            <a:ext cx="10968990" cy="2311400"/>
          </a:xfrm>
        </p:spPr>
        <p:txBody>
          <a:bodyPr/>
          <a:p>
            <a:pPr algn="ctr"/>
            <a:r>
              <a:rPr 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Thank you</a:t>
            </a:r>
            <a:endParaRPr 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8516</Words>
  <Application>WPS Presentation</Application>
  <PresentationFormat>Widescreen</PresentationFormat>
  <Paragraphs>264</Paragraphs>
  <Slides>29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38" baseType="lpstr">
      <vt:lpstr>Arial</vt:lpstr>
      <vt:lpstr>SimSun</vt:lpstr>
      <vt:lpstr>Wingdings</vt:lpstr>
      <vt:lpstr>Wingdings</vt:lpstr>
      <vt:lpstr>Times New Roman</vt:lpstr>
      <vt:lpstr>Microsoft YaHei</vt:lpstr>
      <vt:lpstr>Arial Unicode MS</vt:lpstr>
      <vt:lpstr>Calibri</vt:lpstr>
      <vt:lpstr>WPS</vt:lpstr>
      <vt:lpstr>Indian Banking Transaction &amp; Fraud Analytics Dashboard</vt:lpstr>
      <vt:lpstr>PowerPoint 演示文稿</vt:lpstr>
      <vt:lpstr>Introduction</vt:lpstr>
      <vt:lpstr>Problem Statement &amp; Objectives</vt:lpstr>
      <vt:lpstr>Target Viewers</vt:lpstr>
      <vt:lpstr>Dataset Details</vt:lpstr>
      <vt:lpstr>Data Cleaning &amp; Preprocessing</vt:lpstr>
      <vt:lpstr>Tools &amp; Technologies</vt:lpstr>
      <vt:lpstr>Dashboard Page 1: Transaction Overview</vt:lpstr>
      <vt:lpstr>Dashboard – Page 1: Transaction Overview</vt:lpstr>
      <vt:lpstr>Dashboard Page 2:Customer &amp; Banking Behavior</vt:lpstr>
      <vt:lpstr>Dashboard – Page 2: Customer &amp; Banking Behavior</vt:lpstr>
      <vt:lpstr>Dashboard Page 3: Fraud &amp; Risk Analytics</vt:lpstr>
      <vt:lpstr>Dashboard – Page 3: Fraud &amp; Risk Analytics Overview</vt:lpstr>
      <vt:lpstr>PowerPoint 演示文稿</vt:lpstr>
      <vt:lpstr>Key Dashboard Visualizations</vt:lpstr>
      <vt:lpstr>Key Dashboard Visualizations</vt:lpstr>
      <vt:lpstr>Key Dashboard Visualizations</vt:lpstr>
      <vt:lpstr>Key Dashboard Visualizations</vt:lpstr>
      <vt:lpstr>Key Dashboard Visualizations</vt:lpstr>
      <vt:lpstr>Key Dashboard Visualizations</vt:lpstr>
      <vt:lpstr>Key Dashboard Visualizations</vt:lpstr>
      <vt:lpstr>Key Dashboard Visualizations</vt:lpstr>
      <vt:lpstr>Key Dashboard Visualizations</vt:lpstr>
      <vt:lpstr>Key Dashboard Visualizations</vt:lpstr>
      <vt:lpstr>Key Dashboard Visualizations</vt:lpstr>
      <vt:lpstr>Overall Key Findings</vt:lpstr>
      <vt:lpstr>Conclusion &amp; Future Scope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Indian Banking Transaction &amp; Fraud Analytics Dashboard</dc:title>
  <dc:creator>monib</dc:creator>
  <cp:lastModifiedBy>Moni Balu</cp:lastModifiedBy>
  <cp:revision>6</cp:revision>
  <dcterms:created xsi:type="dcterms:W3CDTF">2026-09-25T21:08:00Z</dcterms:created>
  <dcterms:modified xsi:type="dcterms:W3CDTF">2026-09-30T18:27:25Z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1033-12.1.0.28485</vt:lpwstr>
  </property>
  <property fmtid="{D5CDD505-2E9C-101B-9397-08002B2CF9AE}" pid="3" name="ICV">
    <vt:lpwstr>E475C8CFD915470DA2222F57189C00ED_11</vt:lpwstr>
  </property>
</Properties>
</file>