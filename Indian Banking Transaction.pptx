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6" r:id="rId11"/>
    <p:sldId id="264" r:id="rId12"/>
    <p:sldId id="267" r:id="rId13"/>
    <p:sldId id="265" r:id="rId14"/>
    <p:sldId id="269" r:id="rId15"/>
    <p:sldId id="268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tags" Target="../tags/tag62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tags" Target="../tags/tag58.xml"/><Relationship Id="rId13" Type="http://schemas.openxmlformats.org/officeDocument/2006/relationships/tags" Target="../tags/tag57.xml"/><Relationship Id="rId12" Type="http://schemas.openxmlformats.org/officeDocument/2006/relationships/image" Target="../media/image1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3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4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8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4.xml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7.xml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0.xml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3.xml"/><Relationship Id="rId2" Type="http://schemas.openxmlformats.org/officeDocument/2006/relationships/tags" Target="../tags/tag82.xml"/><Relationship Id="rId1" Type="http://schemas.openxmlformats.org/officeDocument/2006/relationships/tags" Target="../tags/tag81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86.xml"/><Relationship Id="rId3" Type="http://schemas.openxmlformats.org/officeDocument/2006/relationships/image" Target="../media/image2.png"/><Relationship Id="rId2" Type="http://schemas.openxmlformats.org/officeDocument/2006/relationships/tags" Target="../tags/tag85.xml"/><Relationship Id="rId1" Type="http://schemas.openxmlformats.org/officeDocument/2006/relationships/tags" Target="../tags/tag84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" Type="http://schemas.openxmlformats.org/officeDocument/2006/relationships/tags" Target="../tags/tag87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92.xml"/><Relationship Id="rId3" Type="http://schemas.openxmlformats.org/officeDocument/2006/relationships/image" Target="../media/image3.png"/><Relationship Id="rId2" Type="http://schemas.openxmlformats.org/officeDocument/2006/relationships/tags" Target="../tags/tag91.xml"/><Relationship Id="rId1" Type="http://schemas.openxmlformats.org/officeDocument/2006/relationships/tags" Target="../tags/tag90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95.xml"/><Relationship Id="rId2" Type="http://schemas.openxmlformats.org/officeDocument/2006/relationships/tags" Target="../tags/tag94.xml"/><Relationship Id="rId1" Type="http://schemas.openxmlformats.org/officeDocument/2006/relationships/tags" Target="../tags/tag93.xml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98.xml"/><Relationship Id="rId3" Type="http://schemas.openxmlformats.org/officeDocument/2006/relationships/image" Target="../media/image4.png"/><Relationship Id="rId2" Type="http://schemas.openxmlformats.org/officeDocument/2006/relationships/tags" Target="../tags/tag97.xml"/><Relationship Id="rId1" Type="http://schemas.openxmlformats.org/officeDocument/2006/relationships/tags" Target="../tags/tag96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01.xml"/><Relationship Id="rId2" Type="http://schemas.openxmlformats.org/officeDocument/2006/relationships/tags" Target="../tags/tag100.xml"/><Relationship Id="rId1" Type="http://schemas.openxmlformats.org/officeDocument/2006/relationships/tags" Target="../tags/tag99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04.xml"/><Relationship Id="rId2" Type="http://schemas.openxmlformats.org/officeDocument/2006/relationships/tags" Target="../tags/tag103.xml"/><Relationship Id="rId1" Type="http://schemas.openxmlformats.org/officeDocument/2006/relationships/tags" Target="../tags/tag102.xml"/></Relationships>
</file>

<file path=ppt/slides/_rels/slide1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07.xml"/><Relationship Id="rId2" Type="http://schemas.openxmlformats.org/officeDocument/2006/relationships/tags" Target="../tags/tag106.xml"/><Relationship Id="rId1" Type="http://schemas.openxmlformats.org/officeDocument/2006/relationships/tags" Target="../tags/tag10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9.xml"/><Relationship Id="rId1" Type="http://schemas.openxmlformats.org/officeDocument/2006/relationships/tags" Target="../tags/tag10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662305" y="1383665"/>
            <a:ext cx="11141075" cy="2437130"/>
          </a:xfrm>
        </p:spPr>
        <p:txBody>
          <a:bodyPr>
            <a:normAutofit/>
          </a:bodyPr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Indian Banking Transaction &amp; Fraud Analytics Dashboard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6851650" y="4742815"/>
            <a:ext cx="5237480" cy="1699260"/>
          </a:xfrm>
        </p:spPr>
        <p:txBody>
          <a:bodyPr>
            <a:normAutofit/>
          </a:bodyPr>
          <a:p>
            <a:pPr algn="l"/>
            <a:r>
              <a:rPr lang="en-US" sz="222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Name : Monika Balasubramani</a:t>
            </a:r>
            <a:endParaRPr lang="en-US" sz="222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/>
            <a:r>
              <a:rPr lang="en-US" sz="222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Batch Code : ANP-D6580</a:t>
            </a:r>
            <a:endParaRPr lang="en-US" sz="222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algn="l"/>
            <a:r>
              <a:rPr lang="en-US" sz="222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AF ID : AF05304591</a:t>
            </a:r>
            <a:endParaRPr lang="en-US" sz="222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Introduction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/>
          </a:bodyPr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Banking generates a huge volume of transaction data.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Manual analysis of transaction data is time-consuming.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Fraudulent transactions need to be identified and monitored.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Power BI can transform raw banking data into interactive visual insights.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This project focuses on transaction performance and fraud analysis.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Different factors such as transaction type, bank, device, network and time can influence transaction patterns.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Analyzing these factors helps in understanding successful, failed and suspicious transactions.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Problem Statement &amp; Objectives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</a:rPr>
              <a:t>Problem Statement</a:t>
            </a:r>
            <a:endParaRPr lang="en-US" altLang="en-US" b="1">
              <a:solidFill>
                <a:schemeClr val="bg1"/>
              </a:solidFill>
            </a:endParaRPr>
          </a:p>
          <a:p>
            <a:pPr lvl="1" algn="l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 To develop an interactive Power BI dashboard that analyzes Indian banking transactions, identifies transaction patterns, and provides insights into fraudulent activities and associated risks.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457200" lvl="1" indent="0" algn="l">
              <a:buNone/>
            </a:pPr>
            <a:endParaRPr lang="en-US" altLang="en-US" sz="18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 algn="l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Objectives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buFont typeface="Arial" panose="020B0604020202020204" pitchFamily="34" charset="0"/>
              <a:buChar char="•"/>
            </a:pPr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Analyze transaction volume and value.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buFont typeface="Arial" panose="020B0604020202020204" pitchFamily="34" charset="0"/>
              <a:buChar char="•"/>
            </a:pPr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Study transaction status and channels.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buFont typeface="Arial" panose="020B0604020202020204" pitchFamily="34" charset="0"/>
              <a:buChar char="•"/>
            </a:pPr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Analyze banks, merchants and transaction patterns.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buFont typeface="Arial" panose="020B0604020202020204" pitchFamily="34" charset="0"/>
              <a:buChar char="•"/>
            </a:pPr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Identify fraudulent transactions.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 algn="l">
              <a:buFont typeface="Arial" panose="020B0604020202020204" pitchFamily="34" charset="0"/>
              <a:buChar char="•"/>
            </a:pPr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Present insights through interactive dashboards.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Target Viewers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490345"/>
            <a:ext cx="10686415" cy="4759325"/>
          </a:xfrm>
        </p:spPr>
        <p:txBody>
          <a:bodyPr>
            <a:normAutofit fontScale="90000" lnSpcReduction="10000"/>
          </a:bodyPr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Banking &amp; Financial Institutions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 Monitor transaction activity.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Analyze transaction performance.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 &amp; Risk Teams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Analyze fraud patterns based on available transaction attributes.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Identify areas requiring further investigation.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Data Analysts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Explore transaction trends and patterns.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Generate data-driven insights.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>
              <a:buNone/>
            </a:pPr>
            <a:r>
              <a:rPr lang="en-US" altLang="en-US" sz="2025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Bank Management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Get a summarized view of transaction performance.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Support data-based monitoring and decision-making.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>
              <a:buNone/>
            </a:pP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Data Cleaning &amp; Preprocessing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Checked the dataset for missing values.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Removed or handled duplicate records.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Corrected data types for numerical, text and date/time columns.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Standardized categorical values such as transaction type, bank and device type.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Checked transaction amounts for invalid or inconsistent values.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Extracted useful time information such as hour, day and weekend status.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Verified the Fraud Flag values for fraud analysis.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Renamed columns where necessary for easier understanding.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r>
              <a:rPr lang="en-US" altLang="en-US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Loaded the cleaned dataset into Power BI for visualization.</a:t>
            </a:r>
            <a:endParaRPr lang="en-US" altLang="en-US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Dataset Details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20000"/>
          </a:bodyPr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Dataset Name</a:t>
            </a:r>
            <a:endParaRPr lang="en-US" altLang="en-US" b="1"/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Indian Banking Transactions</a:t>
            </a:r>
            <a:endParaRPr lang="en-US" altLang="en-US" b="1"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Dataset Overview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Total Records: 5,50,000 transactions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Data Type: Structured transactional data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Domain: Banking &amp; Digital Transactions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Source: Kaggle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Format: Tabular dataset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Purpose: To analyze transaction behavior, banking activity and fraudulent transactions.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Tools &amp; Technologies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Power BI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Used to create the interactive three-page dashboard.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Used charts, cards, slicers and other visualizations.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Used to analyze transaction and fraud-related patterns.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Helped present the results in an easy-to-understand visual format.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Power Query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Used for data cleaning and preprocessing.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Handled missing and duplicate data.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Corrected data types and standardized values.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Prepared the dataset before loading it into Power BI</a:t>
            </a:r>
            <a:r>
              <a:rPr lang="en-US" altLang="en-US">
                <a:latin typeface="Times New Roman" panose="02020603050405020304" charset="0"/>
                <a:cs typeface="Times New Roman" panose="02020603050405020304" charset="0"/>
              </a:rPr>
              <a:t>.</a:t>
            </a:r>
            <a:endParaRPr lang="en-US" altLang="en-US"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Dashboard Page 1: Transaction Overview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4" name="Content Placeholder 3" descr="Screenshot 2026-09-26 021732"/>
          <p:cNvPicPr>
            <a:picLocks noChangeAspect="1"/>
          </p:cNvPicPr>
          <p:nvPr>
            <p:ph idx="1"/>
            <p:custDataLst>
              <p:tags r:id="rId2"/>
            </p:custDataLst>
          </p:nvPr>
        </p:nvPicPr>
        <p:blipFill>
          <a:blip r:embed="rId3"/>
          <a:srcRect l="955"/>
          <a:stretch>
            <a:fillRect/>
          </a:stretch>
        </p:blipFill>
        <p:spPr>
          <a:xfrm>
            <a:off x="1948815" y="1502410"/>
            <a:ext cx="8368030" cy="473392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35" y="386715"/>
            <a:ext cx="12072620" cy="722630"/>
          </a:xfrm>
        </p:spPr>
        <p:txBody>
          <a:bodyPr>
            <a:noAutofit/>
          </a:bodyPr>
          <a:p>
            <a:pPr algn="ctr"/>
            <a:r>
              <a:rPr lang="en-US" altLang="en-US" sz="3200">
                <a:solidFill>
                  <a:schemeClr val="bg1"/>
                </a:solidFill>
              </a:rPr>
              <a:t>Dashboard – </a:t>
            </a:r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Page </a:t>
            </a:r>
            <a:r>
              <a:rPr lang="en-US" altLang="en-US" sz="3200">
                <a:solidFill>
                  <a:schemeClr val="bg1"/>
                </a:solidFill>
              </a:rPr>
              <a:t>1: Transaction Overview</a:t>
            </a:r>
            <a:endParaRPr lang="en-US" altLang="en-US" sz="320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250950"/>
            <a:ext cx="10968990" cy="5607050"/>
          </a:xfrm>
        </p:spPr>
        <p:txBody>
          <a:bodyPr>
            <a:normAutofit fontScale="40000"/>
          </a:bodyPr>
          <a:p>
            <a:pPr marL="0" indent="0">
              <a:buNone/>
            </a:pPr>
            <a:r>
              <a:rPr lang="en-US" altLang="en-US" sz="50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Purpose:</a:t>
            </a:r>
            <a:endParaRPr lang="en-US" altLang="en-US" sz="50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5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Provides an overall view of banking transaction activity and allows users to filter and analyze transactions interactively.</a:t>
            </a:r>
            <a:endParaRPr lang="en-US" altLang="en-US" sz="5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indent="0">
              <a:buNone/>
            </a:pPr>
            <a:r>
              <a:rPr lang="en-US" altLang="en-US" sz="45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Features:</a:t>
            </a:r>
            <a:endParaRPr lang="en-US" altLang="en-US" sz="4500" b="1"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KPI Cards: Displays Total Transaction Value, Total Transactions, Success Rate and Failure Rate.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Year &amp; State Analysis: Shows transaction trends over time and transaction volume across states.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Merchant Category: Compares transaction value across different merchant categories.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Transaction Status: Analyzes successful, failed, reversed and pending transactions.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Transaction Direction: Shows the distribution of Debit and Credit transactions.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Channel Analysis: Compares transactions across channels such as Mobile App, ATM, POS Terminal, Banking and UPI.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Transaction &amp; Account Type: Provides insights into transaction types and customer account types.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4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Interactive Filters: Year, State, Channel, Category, Account Type and Direction can be used to filter the dashboard.</a:t>
            </a:r>
            <a:endParaRPr lang="en-US" altLang="en-US" sz="4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35" y="608330"/>
            <a:ext cx="12190730" cy="705485"/>
          </a:xfrm>
        </p:spPr>
        <p:txBody>
          <a:bodyPr>
            <a:normAutofit/>
          </a:bodyPr>
          <a:p>
            <a:pPr algn="ctr"/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Dashboard Page 2:</a:t>
            </a:r>
            <a:r>
              <a:rPr lang="en-US" altLang="en-US" sz="32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Customer &amp; Banking Behavior</a:t>
            </a:r>
            <a:endParaRPr lang="en-US" altLang="en-US" sz="32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pic>
        <p:nvPicPr>
          <p:cNvPr id="6" name="Content Placeholder 5" descr="Screenshot 2026-09-26 022926"/>
          <p:cNvPicPr>
            <a:picLocks noChangeAspect="1"/>
          </p:cNvPicPr>
          <p:nvPr>
            <p:ph idx="1"/>
            <p:custDataLst>
              <p:tags r:id="rId2"/>
            </p:custDataLst>
          </p:nvPr>
        </p:nvPicPr>
        <p:blipFill>
          <a:blip r:embed="rId3"/>
          <a:srcRect l="517"/>
          <a:stretch>
            <a:fillRect/>
          </a:stretch>
        </p:blipFill>
        <p:spPr>
          <a:xfrm>
            <a:off x="1897380" y="1502410"/>
            <a:ext cx="8433435" cy="473392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pPr algn="ctr"/>
            <a:r>
              <a:rPr lang="en-US" altLang="en-US" sz="3555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Dashboard – Page 2: Customer &amp; Banking Behavior</a:t>
            </a:r>
            <a:endParaRPr lang="en-US" altLang="en-US" sz="3555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fontScale="80000"/>
          </a:bodyPr>
          <a:p>
            <a:pPr marL="0" indent="0">
              <a:buNone/>
            </a:pPr>
            <a:r>
              <a:rPr lang="en-US" altLang="en-US" sz="225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Features</a:t>
            </a:r>
            <a:endParaRPr lang="en-US" altLang="en-US" sz="225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KPI Cards: Shows Total Customers, KYC Completion Rate, Average Transaction Amount and Loan Customer Percentage.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Merchant Category Analysis: Compares the average transaction amount across different merchant categories.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Account Type Analysis: Shows the total transaction amount by different account types.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Loan Analysis: Compares EMI amounts across different loan types.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Hourly Analysis: Displays transaction amount and transaction count across different hours of the day.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KYC Status Analysis: Shows the distribution of customers and transactions based on Verified, Pending and Expired KYC status.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Loan Customer Analysis: Shows the distribution of customers based on whether they have a loan.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Interactive Filters: Allows users to filter the dashboard by Category, Loan Type and KYC Status.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  <a:sym typeface="+mn-ea"/>
              </a:rPr>
              <a:t>Dashboard Page 3: Fraud &amp; Risk Analytics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pic>
        <p:nvPicPr>
          <p:cNvPr id="4" name="Content Placeholder 3" descr="Screenshot 2026-09-26 020432"/>
          <p:cNvPicPr>
            <a:picLocks noChangeAspect="1"/>
          </p:cNvPicPr>
          <p:nvPr>
            <p:ph idx="1"/>
            <p:custDataLst>
              <p:tags r:id="rId2"/>
            </p:custDataLst>
          </p:nvPr>
        </p:nvPicPr>
        <p:blipFill>
          <a:blip r:embed="rId3"/>
          <a:stretch>
            <a:fillRect/>
          </a:stretch>
        </p:blipFill>
        <p:spPr>
          <a:xfrm>
            <a:off x="1872615" y="1502410"/>
            <a:ext cx="8439150" cy="473392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>
            <a:normAutofit fontScale="90000"/>
          </a:bodyPr>
          <a:p>
            <a:pPr algn="ctr"/>
            <a:r>
              <a:rPr lang="en-US" altLang="en-US" sz="3555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Dashboard – Page 3: Fraud &amp; Risk Analytics Overview</a:t>
            </a:r>
            <a:endParaRPr lang="en-US" altLang="en-US" sz="3555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en-US" sz="20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Features</a:t>
            </a:r>
            <a:endParaRPr lang="en-US" altLang="en-US" sz="20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 Rate: Displays the percentage of transactions identified as fraudulent.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Fraudulent Transactions: Shows the total number of transactions flagged as fraud.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Average Fraudulent Transaction: Provides the average transaction amount associated with fraudulent transactions.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 &amp; Risk KPI: Provides an additional indicator to understand the level of transaction risk.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 Pattern Analysis: Helps analyze fraudulent activity across available transaction attributes.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Bank &amp; Transaction Analysis: Allows comparison of fraud-related activity across banking and transaction categories.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Interactive Filters: Enables users to explore fraud patterns based on relevant categories such as bank, device, network or transaction characteristics</a:t>
            </a:r>
            <a:r>
              <a:rPr lang="en-US" altLang="en-US"/>
              <a:t>.</a:t>
            </a:r>
            <a:endParaRPr lang="en-US" altLang="en-US"/>
          </a:p>
        </p:txBody>
      </p:sp>
    </p:spTree>
    <p:custDataLst>
      <p:tags r:id="rId3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Overall Key Findings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fontScale="90000" lnSpcReduction="10000"/>
          </a:bodyPr>
          <a:p>
            <a:pPr marL="0" indent="0">
              <a:buNone/>
            </a:pPr>
            <a:r>
              <a:rPr lang="en-US" altLang="en-US" sz="2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Key Findings</a:t>
            </a:r>
            <a:endParaRPr lang="en-US" altLang="en-US" sz="2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The dashboard provides an overall view of 5.5 lakh banking transactions and their transaction values.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Transaction activity can be analyzed based on state, channel, merchant category and transaction type.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The dashboard shows differences in transaction behavior across account types and customer categories.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Customer and banking behavior can be studied using transaction amount, loan type and KYC status.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Hour-wise analysis helps identify patterns in transaction amount and transaction volume.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Fraud-related analysis helps identify fraudulent transactions and potential risk patterns.</a:t>
            </a:r>
            <a:endParaRPr lang="en-US" altLang="en-US" sz="20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20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Interactive filters allow users to explore the data based on different categories and conditions</a:t>
            </a:r>
            <a:r>
              <a:rPr lang="en-US" altLang="en-US"/>
              <a:t>.</a:t>
            </a:r>
            <a:endParaRPr lang="en-US" altLang="en-US"/>
          </a:p>
        </p:txBody>
      </p:sp>
    </p:spTree>
    <p:custDataLst>
      <p:tags r:id="rId3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pPr algn="ctr"/>
            <a:r>
              <a:rPr lang="en-US" alt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Conclusion &amp; Future Scope</a:t>
            </a:r>
            <a:endParaRPr lang="en-US" alt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>
            <a:normAutofit lnSpcReduction="10000"/>
          </a:bodyPr>
          <a:p>
            <a:pPr mar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Conclusion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The project successfully transforms raw banking transaction data into an interactive Power BI dashboard.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Power Query was used to clean and prepare the dataset before analysis.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The three dashboard pages provide insights into transaction activity, customer behavior and fraud-related patterns.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Interactive visuals and filters make it easier to explore and understand banking data.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The dashboard can support data-driven monitoring and analysis of banking transactions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marL="0" lvl="0" indent="0">
              <a:buNone/>
            </a:pPr>
            <a:r>
              <a:rPr lang="en-US" altLang="en-US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Future Scope</a:t>
            </a:r>
            <a:endParaRPr lang="en-US" altLang="en-US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Integration with real-time banking transaction data.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Implementation of machine learning models for fraud prediction.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  <a:p>
            <a:pPr lvl="1"/>
            <a:r>
              <a:rPr lang="en-US" altLang="en-US" sz="1800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Development of real-time fraud alerts for suspicious transactions.</a:t>
            </a:r>
            <a:endParaRPr lang="en-US" altLang="en-US" sz="1800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330" y="2285365"/>
            <a:ext cx="10968990" cy="2311400"/>
          </a:xfrm>
        </p:spPr>
        <p:txBody>
          <a:bodyPr/>
          <a:p>
            <a:pPr algn="ctr"/>
            <a:r>
              <a:rPr lang="en-US" sz="3200" b="1">
                <a:solidFill>
                  <a:schemeClr val="bg1"/>
                </a:solidFill>
                <a:latin typeface="Times New Roman" panose="02020603050405020304" charset="0"/>
                <a:cs typeface="Times New Roman" panose="02020603050405020304" charset="0"/>
              </a:rPr>
              <a:t>Thank you</a:t>
            </a:r>
            <a:endParaRPr lang="en-US" sz="3200" b="1">
              <a:solidFill>
                <a:schemeClr val="bg1"/>
              </a:solidFill>
              <a:latin typeface="Times New Roman" panose="02020603050405020304" charset="0"/>
              <a:cs typeface="Times New Roman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6925</Words>
  <Application>WPS Presentation</Application>
  <PresentationFormat>Widescreen</PresentationFormat>
  <Paragraphs>150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5" baseType="lpstr">
      <vt:lpstr>Arial</vt:lpstr>
      <vt:lpstr>SimSun</vt:lpstr>
      <vt:lpstr>Wingdings</vt:lpstr>
      <vt:lpstr>Wingdings</vt:lpstr>
      <vt:lpstr>Times New Roman</vt:lpstr>
      <vt:lpstr>Microsoft YaHei</vt:lpstr>
      <vt:lpstr>Arial Unicode MS</vt:lpstr>
      <vt:lpstr>Calibri</vt:lpstr>
      <vt:lpstr>WPS</vt:lpstr>
      <vt:lpstr>Indian Banking Transaction &amp; Fraud Analytics Dashboard</vt:lpstr>
      <vt:lpstr>Introduction</vt:lpstr>
      <vt:lpstr>Problem Statement &amp; Objectives</vt:lpstr>
      <vt:lpstr>Target Viewers</vt:lpstr>
      <vt:lpstr>Data Cleaning &amp; Preprocessing</vt:lpstr>
      <vt:lpstr>Dataset Details</vt:lpstr>
      <vt:lpstr>Tools &amp; Technologies</vt:lpstr>
      <vt:lpstr>Dashboard Page 1: Transaction Overview</vt:lpstr>
      <vt:lpstr>PowerPoint 演示文稿</vt:lpstr>
      <vt:lpstr>Dashboard Page 2:Customer &amp; Banking Behavior</vt:lpstr>
      <vt:lpstr>PowerPoint 演示文稿</vt:lpstr>
      <vt:lpstr>Dashboard Page 3: Fraud &amp; Risk Analytics</vt:lpstr>
      <vt:lpstr>PowerPoint 演示文稿</vt:lpstr>
      <vt:lpstr>PowerPoint 演示文稿</vt:lpstr>
      <vt:lpstr>PowerPoint 演示文稿</vt:lpstr>
      <vt:lpstr>Thank you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Indian Banking Transaction &amp; Fraud Analytics Dashboard</dc:title>
  <dc:creator>monib</dc:creator>
  <cp:lastModifiedBy>Moni Balu</cp:lastModifiedBy>
  <cp:revision>2</cp:revision>
  <dcterms:created xsi:type="dcterms:W3CDTF">2026-09-25T21:08:00Z</dcterms:created>
  <dcterms:modified xsi:type="dcterms:W3CDTF">2026-09-26T05:46:45Z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E475C8CFD915470DA2222F57189C00ED_11</vt:lpwstr>
  </property>
</Properties>
</file>